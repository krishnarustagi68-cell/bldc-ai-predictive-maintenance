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828800" y="4572000"/>
            <a:ext cx="411480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GDG DEHRADUN   •   5TH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 i="0">
                <a:solidFill>
                  <a:srgbClr val="F8FAFC"/>
                </a:solidFill>
                <a:latin typeface="Arial"/>
              </a:defRPr>
            </a:pPr>
            <a:r>
              <a:t>DevFest Dehradun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0" i="1">
                <a:solidFill>
                  <a:srgbClr val="F8FAFC"/>
                </a:solidFill>
                <a:latin typeface="Arial"/>
              </a:defRPr>
            </a:pPr>
            <a:r>
              <a:t>“Elevate: From Classroom to Creation”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Inspiring technical minds. Skilling developers. Executing projects. Connecting academic hubs.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103601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INSPIRE   →   SKILL   →   EXECUTE   →   CONNECT   →   ELEVATE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Flagship Developer Conference   •   Dehradun, Uttarakhand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Arial"/>
              </a:defRPr>
            </a:pPr>
            <a:r>
              <a:t>Why DevFest Dehradun 2026?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4285F4"/>
                </a:solidFill>
                <a:latin typeface="Arial"/>
              </a:defRPr>
            </a:pPr>
            <a:r>
              <a:t>Bridging the gap in the Shivalik Valley tech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THE PILOT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 i="0">
                <a:solidFill>
                  <a:srgbClr val="F8FAFC"/>
                </a:solidFill>
                <a:latin typeface="Arial"/>
              </a:defRPr>
            </a:pPr>
            <a:r>
              <a:t>“From Classroom to Creation.”</a:t>
            </a:r>
            <a:br/>
            <a:br/>
            <a:r>
              <a:t>Dehradun is home to thousands of tech students across major institutions, yet a gap remains between theoretical coursework and production-ready building. DevFest 2026 bridges this divide by moving beyond passive listening to live software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120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21208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The Classroom Gap (Theory &amp; Tutorials)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Students and developers focus heavily on tutorial-based learning, theoretical coursework, and passive video consumption. High inspiration, but low real-world shipping experience.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52120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114800"/>
            <a:ext cx="521208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The Creation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Expert-led sessions lead directly into technical labs. Attendees write live code, configure APIs, test ideas, and ship real prototypes mentored by local senior remote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Establishing a launcher platform for academic and professional developer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 i="1">
                <a:solidFill>
                  <a:srgbClr val="0F172A"/>
                </a:solidFill>
                <a:latin typeface="Arial"/>
              </a:defRPr>
            </a:pPr>
            <a:r>
              <a:t>“To establish Dehradun as North India's premier launchpad for student and professional tech talent, bridging the gap between classroom curricula and global engineering standards.”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92024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Student Ascent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Guiding university student developers to build portfolios that stand 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657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3657600"/>
            <a:ext cx="192024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Mentor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72000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Connecting local remote engineering leads with student developers.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657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3657600"/>
            <a:ext cx="192024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Technical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572000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Curing sessions to focus entirely on API-level execution.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657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3657600"/>
            <a:ext cx="192024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Ecosystem Nexus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4572000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Creating a unified network linking campuses, startups, and remote teams.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365760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60" y="3657600"/>
            <a:ext cx="192024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Regional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572000"/>
            <a:ext cx="1554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Elevating the technical readiness of Dehradun's workforce.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What Makes DevFest Dehradun 2026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Six pillars of operational and curational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Classroom-to-Creation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Every technical session is structured to output a running project or code demo.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Foothill Mentor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Leveraging Dehradun's local remote engineers as active workshop coaches.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Sandbox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Dedicated developer sandboxes replacing generic overview talks.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Academic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Partnering directly with regional universities (UPES, GEU, DIT, UTU) for talent outreach.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2336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Elevation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 public showcase for first-time builders to demo software to industry leaders.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02336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023360"/>
            <a:ext cx="33832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06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Multi-Month Momentum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Continuous follow-up meetups, hack sprints, and study circles.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The DevFest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 continuous learning lifecycle, not just a single-day conference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BBC05"/>
                </a:solidFill>
                <a:latin typeface="Arial"/>
              </a:defRPr>
            </a:pPr>
            <a:r>
              <a:t>PHASE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t>PRE-DEVFEST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Foundational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743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Campus roadshows &amp; tech society intros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Virtual configuration &amp; coding sprints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Speaker &amp; track announcements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Recruiting local remote mentors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Attendee curation &amp; application screening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Volunteer operations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3657600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3291840" cy="109728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EA4335"/>
                </a:solidFill>
                <a:latin typeface="Arial"/>
              </a:defRPr>
            </a:pPr>
            <a:r>
              <a:t>PHASE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t>MAIN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The Flagship Sprints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743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Opening keynote addresses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Technical deep dive tracks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Parallel workshop codelabs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networking spaces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Builder Showcase demo stage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Community award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657600"/>
            <a:ext cx="310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291840" cy="109728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4285F4"/>
                </a:solidFill>
                <a:latin typeface="Arial"/>
              </a:defRPr>
            </a:pPr>
            <a:r>
              <a:t>PHASE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t>POST-DEVFEST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Shivalik 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743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Focused mentorship circles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Post-event portfolio builds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Local tech society follow-ups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Open-source codebase sprints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Feedback and retrospective logs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Strategic partner collaborations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Pre-DevFest: Build the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Activating Dehradun's academic corridor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FBBC05"/>
                </a:solidFill>
                <a:latin typeface="Arial"/>
              </a:defRPr>
            </a:pPr>
            <a:r>
              <a:t>COMMUNITY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t>“Arrive curious.</a:t>
            </a:r>
            <a:br/>
            <a:r>
              <a:t>Leave ready to build.”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The road to DevFest is paved with active preparation. By hosting campus outreach sessions across Dehradun's institutional corridor, we ensure attendees arrive with configured development environments and a high intent to create.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PRE-EVENT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4206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Campus Roadshows: In-person workshops at primary regional campuses.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Environment Setup Sprints: Ensuring all developer SDKs and keys are active.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Foothill Mentor Sourcing: Enlisting local remote senior engineers as hands-on leads.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Curation &amp; Screening: Selecting high-intent developers through filters.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Volunteer Bootcamps: Preparing student teams for operational excellence.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Arial"/>
              </a:defRPr>
            </a:pPr>
            <a:r>
              <a:t>Building a Builder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4285F4"/>
                </a:solidFill>
                <a:latin typeface="Arial"/>
              </a:defRPr>
            </a:pPr>
            <a:r>
              <a:t>Guiding attendees through a technical growth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THE TRANSFORMATION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9202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9202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Consumer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Discovers next-gen trends during the keynote sessions.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3840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19202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377440"/>
            <a:ext cx="19202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Learner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661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Grasps fundamental theories from developer talks.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3840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377440"/>
            <a:ext cx="19202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377440"/>
            <a:ext cx="19202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651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Experimenter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661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Runs code in guided codelab sandbox challenges.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3840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77440"/>
            <a:ext cx="19202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77440"/>
            <a:ext cx="19202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5661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Writes customized code and initiates real prototypes.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840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 i="0">
                <a:solidFill>
                  <a:srgbClr val="4285F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2377440"/>
            <a:ext cx="19202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2377440"/>
            <a:ext cx="19202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651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017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Contributor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5661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Mentors peers and contributes to local ecosystems.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One Day. Five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 structured flagship journey organized around five core philosophies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920240" cy="109728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4285F4"/>
                </a:solidFill>
                <a:latin typeface="Arial"/>
              </a:defRPr>
            </a:pPr>
            <a:r>
              <a:t>INSPIRE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Keynotes &amp; Tech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554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Opening sessions outlining developer updates, machine learning trends, and general platform innovations.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01168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011680"/>
            <a:ext cx="1920240" cy="109728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EA4335"/>
                </a:solidFill>
                <a:latin typeface="Arial"/>
              </a:defRPr>
            </a:pPr>
            <a:r>
              <a:t>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Expert Deep Dives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83280"/>
            <a:ext cx="1554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Deep technical tracks focused on software architecture, devops, mobile OS, and web technologies.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01168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1920240" cy="109728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BBC05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Hands-On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383280"/>
            <a:ext cx="1554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Guided workshop codelabs where attendees implement models, compile APIs, and run live codes.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01168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2011680"/>
            <a:ext cx="1920240" cy="109728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34A853"/>
                </a:solidFill>
                <a:latin typeface="Arial"/>
              </a:defRPr>
            </a:pPr>
            <a:r>
              <a:t>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Ecosystem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383280"/>
            <a:ext cx="1554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Connecting engineers, startup founders, developers, and designers during dedicated networking breaks.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011680"/>
            <a:ext cx="1920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2011680"/>
            <a:ext cx="1920240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t>ELEVATE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Builder Stage Sprints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83280"/>
            <a:ext cx="1554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A public stage for first-time builders and hackers to showcase running prototypes and receive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Proposed Event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Widescreen schedule map for the flagship developer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9776" y="2148840"/>
            <a:ext cx="18288" cy="35661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08:30 AM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206654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Registration &amp; Morning 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3113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Welcoming attendees, badge distribution, and morning coffee.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09:30 AM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266090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606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Opening Keynotes (Inspire)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2549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Flagship trends, developer platform reveals, and local ecosystem goals.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10:45 AM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325526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2004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Track Deep Dives (Skill)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1985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Parallel tracks on AI/Gemini, Web/Cloud, Android, and Startup strategy.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01:00 PM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0" y="384962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9476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Lunch &amp; Partner 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1421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Connecting founders, professionals, developers, and community sponsors.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02:00 PM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0" y="444398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43891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Hands-on Sprints (Execute)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60857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Codelabs and builder challenges designed for immediate API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04:30 PM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0" y="503834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49834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Showcase &amp; Demos (Elevate)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20293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Project presentations, startup pitches, and rapid builder demos.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05:30 PM</a:t>
            </a:r>
          </a:p>
        </p:txBody>
      </p:sp>
      <p:sp>
        <p:nvSpPr>
          <p:cNvPr id="31" name="Oval 30"/>
          <p:cNvSpPr/>
          <p:nvPr/>
        </p:nvSpPr>
        <p:spPr>
          <a:xfrm>
            <a:off x="2743200" y="5632704"/>
            <a:ext cx="91440" cy="9144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5778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Closing &amp; Community Recognition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797296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Speaker awards, volunteer appreciation, and event closing photos.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Proposed Event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Structured developer learning categories designed for community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28600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Track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011680"/>
            <a:ext cx="320040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8688" y="2084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Target Audience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201168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8483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08483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Expected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8775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AI &amp; Gemini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51460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258775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Developers, ML Enthusiasts, Product Managers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5146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8775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Lectures &amp; API Sprints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258775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Gemini API integration prototype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2461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1927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Cloud &amp; Developer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24612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8688" y="331927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System Engineers, Backend Devs, DevOps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31927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Hands-on Codelabs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24612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31927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Deployment pipeline setup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97764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05079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Web &amp; App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97764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405079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Frontend Developers, Designers, Web Devs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9776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05079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Tech Deep Dives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97764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405079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Optimized web application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70916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78231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Android &amp; Modern Dev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70916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8688" y="478231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Mobile Engineers, Kotlin Developers, Students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7091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78231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Technical Sessions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478231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Multiplatform mobile app architecture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44068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513832"/>
            <a:ext cx="2066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Startups &amp; Product Strategy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544068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8688" y="5513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Founders, PMs, Aspiring Tech Entrepreneurs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4406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19088" y="551383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Interactive Panel Discussions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544068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8" y="551383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Launch roadmap and product blueprints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Learn by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Establishing a direct link between concept and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THE PILOT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 i="0">
                <a:solidFill>
                  <a:srgbClr val="0F172A"/>
                </a:solidFill>
                <a:latin typeface="Arial"/>
              </a:defRPr>
            </a:pPr>
            <a:r>
              <a:t>“Every major learning experience must have a path from concept → experiment → output.”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We believe the best way to understand a platform is to build on it. DevFest Dehradun 2026 allocates dedicated physical space and session timings to developer labs, ensuring attendees get code running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4688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Hands-on Codelabs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Practical sandboxes co-hosted with developer leads.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01168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2011680"/>
            <a:ext cx="24688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14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Guided API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8346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Quick integrations using Gemini models and Google Cloud APIs.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24688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Mini Build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Collaborative sprints to solve logical developer puzzles.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393192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3931920"/>
            <a:ext cx="246888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434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Cloud Deployment Labs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7548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Compiling, testing, and shipping code straight to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Voices That Move Builders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Curation targeting technical depth and educational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PROPOSED SPEAKER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Google Developer Experts (GDEs) with deep expertise.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Experienced software engineers and dev leads.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Startup CTOs and technical founders sharing real growth stories.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Active open-source authors and product managers.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Google developer community advocates and technical trainers.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SELECTION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Technical Depth: Actionable code details over marketing pitches.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Educational Quality: Clear capability to teach complex ideas simply.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Value: Sharing real project insights and deploy tips.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Diversity: Bringing represented paths and domain viewpoints.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Accessibility: Simple code repos and guidelines shared beforehand.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Built With the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Co-creating a cohesive regional technology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PARTNER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Academic Corridor: Active tech clubs at UPES, Graphic Era, DIT, and UTU.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Foothill Mentors: Local remote engineers guiding student developers.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Incubation Links: Regional accelerators (like TIDES IIT Roorkee) for startup tracks.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Inter-city Networks: Collaboration with other North India developer chapters.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Local Communities: Engaging regional tech groups and designers.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EA4335"/>
                </a:solidFill>
                <a:latin typeface="Arial"/>
              </a:defRPr>
            </a:pPr>
            <a:r>
              <a:t>COLLABORATIVE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Scale: Reaching 500+ active tech participants.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Mentorship Pipeline: Direct student-to-practitioner pairing.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Co-branded Workshops: Co-hosting labs for deep learning.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Resource Sharing: Combining volunteer operations and venues.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Long-term Value: Continuing relationships far past DevFest.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Who Are We Building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Bringing together the diverse segments of Dehradun's developer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TARGET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400" b="1" i="0">
                <a:solidFill>
                  <a:srgbClr val="4285F4"/>
                </a:solidFill>
                <a:latin typeface="Arial"/>
              </a:defRPr>
            </a:pPr>
            <a:r>
              <a:t>500–600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EXPECTED ATTENDEES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We optimize for active interest over sheer volume. By targeting high-intent developers and tech leads, we ensure the workshop sessions maintain a high level of technical interaction.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AUDIENCE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206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40% Professional Developers: Mid-to-senior engineers &amp; CTOs.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35% University Students: Computer science &amp; tech enthusiasts.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15% Startup Teams &amp; Founders: Scaling regional tech products.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10% Designers &amp; Product Managers: Focusing on UX &amp; UI designs.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From Registration to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 seamless, high-intent attendee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109728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TICKETING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Category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Student Tickets: Accessible pricing.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Professional Tickets: Targeted at devs.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Early Bird Sprints: Driving registrations.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Group Bookings: Boosting campus 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291840" cy="109728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EA4335"/>
                </a:solidFill>
                <a:latin typeface="Arial"/>
              </a:defRPr>
            </a:pPr>
            <a:r>
              <a:t>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Curation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Intent Application: Simple filter questions.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Developer Verification: Ensuring tech focus.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Fast Badge Sprints: Smooth morning entry.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Direct Slack Prep: Active communications.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291840" cy="109728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SWAG 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Proposed Swag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08960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Builder T-shirt: Premium fabric fits.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Developer Notebook: Structured layout.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Badge: Custom printed decals.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Mini Tech Accessories: Practical utilities.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Powered by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Training Dehradun's next generation of technical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OPERATIONAL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Stage Management: Coordinating AV, lighting, and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Speaker Relations: Managing hospitality and guest logistics.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Codelab Support: Assisting developers during hands-on labs.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Registration Desk: Fast badges, ticketing, and info desks.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Media &amp; Design: Event photography, content, and live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VOLUNTEER VALUE PROPOSITION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Direct Networking: Connecting with tech leaders &amp; experts.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Leadership Experience: Managing complex flagship operations.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Community Kits: Custom volunteer tees, swags, and meal logs.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Formal Certification: Experience letters signed by GDG Leads.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Opportunities: Recommendations for future placements.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Balancing quantitative metrics with qualitative community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PRIMARY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500–600 target attendees checking in live on event day.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80%+ conversion of approved registrations to active attendance.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Codelab participation: 300+ attendees deploying APIs.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Showcase outputs: 15+ developer prototypes built &amp; presented.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Attendee feedback: Targeting 4.5/5.0 session satisfaction.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EA4335"/>
                </a:solidFill>
                <a:latin typeface="Arial"/>
              </a:defRPr>
            </a:pPr>
            <a:r>
              <a:t>SECONDARY ECOSYSTEM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Volunteer retention: Building a strong community leadership pool.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Post-event continuity: Continued meetup attendance.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Partner satisfaction: High value for ecosystem sponsors.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Amplification reach: Sharing developer stories and updates.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New contributors: Onboarding developers into open-source.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The Event Ends. The Community Doesn’t.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Maintaining learning and building momentum post-event in Uttarakhand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THE CONTINUITY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 i="0">
                <a:solidFill>
                  <a:srgbClr val="0F172A"/>
                </a:solidFill>
                <a:latin typeface="Arial"/>
              </a:defRPr>
            </a:pPr>
            <a:r>
              <a:t>“DevFest is the spark. The community is the flame that keeps burning.”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We believe a conference should generate momentum, not just memories. Our follow-up plan ensures that connections built during the showcase transition into active project collaborations.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POST-EVENT INITIATIVES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Foothill Mentorship Circles: Pairing student teams with local senior remote mentors.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Portfolio Sprints: Structured code reviews to turn hack projects into resumes.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Institutional Study Circles: Post-event meetups co-hosted with student clubs.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Open Source Commits: Contributing code updates to regional projects.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Partnering to Build the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Aligning local and global partners with developer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365760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4285F4"/>
                </a:solidFill>
                <a:latin typeface="Arial"/>
              </a:defRPr>
            </a:pPr>
            <a:r>
              <a:t>PARTNER VALUE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Brand Visibility: Positioning with 500+ developers &amp; leads.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Direct Talent Sourcing: Engage active engineering talent directly.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Developer Evangelism: Drive API usages and tool downloads.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Ecosystem Positioning: Align brand with regional innovation hubs.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65760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SPONSOR CATEGORIES (INDICATIVE)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Title Presenting Partner: Max layout branding visibility (₹ XXXXX).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Technology Partner: Powering workshops &amp; cloud credits (₹ XXXXX).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Community Outreach Partner: Supporting student admissions (₹ XXXXX).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 Experience Swag Partner: Custom physical asset branding (₹ XXXXX).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Indicative Budget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Structured costing breakdown built for high operational production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56032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0195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429768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901952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828800"/>
            <a:ext cx="164592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901952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Proposed 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828800"/>
            <a:ext cx="201168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6608" y="190195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rial"/>
              </a:defRPr>
            </a:pPr>
            <a:r>
              <a:t>Cost Estimation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0487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Venue &amp; Catering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3172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404872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Hall rental, networking lunch, tea/coffee sets for 500+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3317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404872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3317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240487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807208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88036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Stage &amp;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807208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288036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LED backdrop walls, stage light sets, AV coordination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80720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880360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807208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880360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282696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35584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Attendee Swags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282696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355848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Premium builder t-shirts, sticker sheets, notebooks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282696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335584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28269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33558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758184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831336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Branding &amp; 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758184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3008" y="3831336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Venue signage, standees, badges, and wristbands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758184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0688" y="3831336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758184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6608" y="3831336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233672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4306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Speaker Hospitality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233672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93008" y="4306824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Travel logistics and speaker accommodations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4233672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90688" y="4306824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23367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6608" y="4306824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70916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" y="478231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Ops &amp; Volunteer Kits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470916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93008" y="4782312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Volunteer kit t-shirts, logistics, and emergency desks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470916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90688" y="4782312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26880" y="47091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36608" y="478231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5184648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2688" y="5257800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Contingency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5184648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525780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Reserved for unforeseen operational costs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518464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90688" y="5257800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5184648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36608" y="5257800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5660136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" y="5733288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Total Indicative Cost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5660136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93008" y="5733288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Full operational proposal framework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5660136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90688" y="5733288"/>
            <a:ext cx="1426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566013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36608" y="5733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₹ XXXXX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" y="6062472"/>
            <a:ext cx="10515600" cy="36576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* Note: Exact budget metrics are subject to finalize venue negotiations and sponsorship allocations.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What We Need to Make This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Strategic collaborations and resources to scale community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1206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Google &amp; GDG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Platform approvals and event authorization.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Global speaker recommendations and travel alignments.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Codelab cloud credits to run workshop sandboxes.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12064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EA4335"/>
                </a:solidFill>
                <a:latin typeface="Arial"/>
              </a:defRPr>
            </a:pPr>
            <a:r>
              <a:t>Ecosystem Amplification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Local incubator sharing to direct outreach devs.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Coordinated marketing to tech teams &amp; CTO groups.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Community cross-promotions to CS departments.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5120640" cy="73152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FBBC05"/>
                </a:solidFill>
                <a:latin typeface="Arial"/>
              </a:defRPr>
            </a:pPr>
            <a:r>
              <a:t>Venue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Help securing premium venue options (Venue — XXXXX).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Aligning technical requirements (High-speed Wi-Fi).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Allocating separate rooms for parallel code tracks.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20624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12064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34A853"/>
                </a:solidFill>
                <a:latin typeface="Arial"/>
              </a:defRPr>
            </a:pPr>
            <a:r>
              <a:t>Curation &amp; Mentorship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Industry leads to join our project review panel.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Active advisors to curate technical track scopes.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 Experienced practitioners to mentor developer teams.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327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3272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 i="0">
                <a:solidFill>
                  <a:srgbClr val="F8FAFC"/>
                </a:solidFill>
                <a:latin typeface="Arial"/>
              </a:defRPr>
            </a:pPr>
            <a:r>
              <a:t>LET'S TURN DEVFEST DEHRADUN INTO A LAUNCHPAD FROM CLASSROOM TO CREATION.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 i="0">
                <a:solidFill>
                  <a:srgbClr val="4285F4"/>
                </a:solidFill>
                <a:latin typeface="Arial"/>
              </a:defRPr>
            </a:pPr>
            <a:r>
              <a:t>INSPIRE   •   SKILL   •   EXECUTE   •   CONNECT   •   ELEVATE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 i="0">
                <a:solidFill>
                  <a:srgbClr val="F8FAFC"/>
                </a:solidFill>
                <a:latin typeface="Arial"/>
              </a:defRPr>
            </a:pPr>
            <a:r>
              <a:t>DevFest Dehradun 2026   •   5th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Organized by GDG Dehradun   •   Dehradun, Uttarakhand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34A853"/>
                </a:solidFill>
                <a:latin typeface="Arial"/>
              </a:defRPr>
            </a:pPr>
            <a:r>
              <a:t>Thank You.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